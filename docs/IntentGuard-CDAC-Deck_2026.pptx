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75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22"/>
    <p:restoredTop sz="94687"/>
  </p:normalViewPr>
  <p:slideViewPr>
    <p:cSldViewPr snapToGrid="0" snapToObjects="1">
      <p:cViewPr varScale="1">
        <p:scale>
          <a:sx n="120" d="100"/>
          <a:sy n="120" d="100"/>
        </p:scale>
        <p:origin x="200" y="6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9445B99-D776-49F0-ABA2-C2AC2067C5A7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8626475" y="63500"/>
            <a:ext cx="485775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900">
                <a:solidFill>
                  <a:srgbClr val="5514B4">
                    <a:alpha val="50000"/>
                  </a:srgbClr>
                </a:solidFill>
                <a:latin typeface="Century Gothic" panose="020B0502020202020204" pitchFamily="34" charset="0"/>
              </a:rPr>
              <a:t>General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CF6754-D384-3269-8980-3D8C8A6C76B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8626475" y="4942840"/>
            <a:ext cx="485775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900">
                <a:solidFill>
                  <a:srgbClr val="5514B4">
                    <a:alpha val="50000"/>
                  </a:srgbClr>
                </a:solidFill>
                <a:latin typeface="Century Gothic" panose="020B0502020202020204" pitchFamily="34" charset="0"/>
              </a:rPr>
              <a:t>General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5143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8B8DD65-62D6-B26C-21E6-8FB78ADE5A9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874" b="2"/>
          <a:stretch>
            <a:fillRect/>
          </a:stretch>
        </p:blipFill>
        <p:spPr>
          <a:xfrm>
            <a:off x="20" y="961"/>
            <a:ext cx="9143980" cy="514253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8F8F8"/>
                </a:solidFill>
                <a:latin typeface="Helvetica Neue"/>
              </a:defRPr>
            </a:pPr>
            <a: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8288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804672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00D4AA"/>
                </a:solidFill>
                <a:latin typeface="Helvetica Neue"/>
              </a:defRPr>
            </a:pPr>
            <a:r>
              <a:rPr dirty="0"/>
              <a:t>In 202</a:t>
            </a:r>
            <a:r>
              <a:rPr lang="en-US" dirty="0"/>
              <a:t>5</a:t>
            </a:r>
            <a:r>
              <a:rPr dirty="0"/>
              <a:t>, the average cost of a data breach in India reached</a:t>
            </a:r>
            <a:br>
              <a:rPr dirty="0"/>
            </a:br>
            <a:r>
              <a:rPr dirty="0"/>
              <a:t>₹19</a:t>
            </a:r>
            <a:r>
              <a:rPr lang="en-US" dirty="0"/>
              <a:t>0</a:t>
            </a:r>
            <a:r>
              <a:rPr dirty="0"/>
              <a:t>.5 crore ($23</a:t>
            </a:r>
            <a:r>
              <a:rPr lang="en-US" dirty="0"/>
              <a:t>.</a:t>
            </a:r>
            <a:r>
              <a:rPr dirty="0"/>
              <a:t>6M) — AI agents now execute 40% of cloud ops unsupervised.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8046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 dirty="0">
                <a:solidFill>
                  <a:srgbClr val="00D4AA"/>
                </a:solidFill>
                <a:latin typeface="Helvetica Neue"/>
              </a:rPr>
              <a:t>→  </a:t>
            </a:r>
            <a:r>
              <a:rPr sz="1400" dirty="0">
                <a:solidFill>
                  <a:srgbClr val="F8F8F8"/>
                </a:solidFill>
                <a:latin typeface="Helvetica Neue"/>
              </a:rPr>
              <a:t>Digital India infrastructure is increasingly AI-operated</a:t>
            </a:r>
          </a:p>
          <a:p>
            <a:pPr>
              <a:spcBef>
                <a:spcPts val="600"/>
              </a:spcBef>
            </a:pPr>
            <a:r>
              <a:rPr sz="1400" dirty="0">
                <a:solidFill>
                  <a:srgbClr val="00D4AA"/>
                </a:solidFill>
                <a:latin typeface="Helvetica Neue"/>
              </a:rPr>
              <a:t>→  </a:t>
            </a:r>
            <a:r>
              <a:rPr sz="1400" dirty="0" err="1">
                <a:solidFill>
                  <a:srgbClr val="F8F8F8"/>
                </a:solidFill>
                <a:latin typeface="Helvetica Neue"/>
              </a:rPr>
              <a:t>sudoers</a:t>
            </a:r>
            <a:r>
              <a:rPr sz="1400" dirty="0">
                <a:solidFill>
                  <a:srgbClr val="F8F8F8"/>
                </a:solidFill>
                <a:latin typeface="Helvetica Neue"/>
              </a:rPr>
              <a:t>, </a:t>
            </a:r>
            <a:r>
              <a:rPr sz="1400" dirty="0" err="1">
                <a:solidFill>
                  <a:srgbClr val="F8F8F8"/>
                </a:solidFill>
                <a:latin typeface="Helvetica Neue"/>
              </a:rPr>
              <a:t>SELinux</a:t>
            </a:r>
            <a:r>
              <a:rPr sz="1400" dirty="0">
                <a:solidFill>
                  <a:srgbClr val="F8F8F8"/>
                </a:solidFill>
                <a:latin typeface="Helvetica Neue"/>
              </a:rPr>
              <a:t>, PAM — designed for humans, not autonomous agents</a:t>
            </a:r>
          </a:p>
          <a:p>
            <a:pPr>
              <a:spcBef>
                <a:spcPts val="600"/>
              </a:spcBef>
            </a:pPr>
            <a:r>
              <a:rPr sz="1400" dirty="0">
                <a:solidFill>
                  <a:srgbClr val="00D4AA"/>
                </a:solidFill>
                <a:latin typeface="Helvetica Neue"/>
              </a:rPr>
              <a:t>→  </a:t>
            </a:r>
            <a:r>
              <a:rPr sz="1400" dirty="0">
                <a:solidFill>
                  <a:srgbClr val="F8F8F8"/>
                </a:solidFill>
                <a:latin typeface="Helvetica Neue"/>
              </a:rPr>
              <a:t>These tools check identity/permission, not intent alignment</a:t>
            </a:r>
          </a:p>
          <a:p>
            <a:pPr>
              <a:spcBef>
                <a:spcPts val="600"/>
              </a:spcBef>
            </a:pPr>
            <a:r>
              <a:rPr sz="1400" dirty="0">
                <a:solidFill>
                  <a:srgbClr val="00D4AA"/>
                </a:solidFill>
                <a:latin typeface="Helvetica Neue"/>
              </a:rPr>
              <a:t>→  </a:t>
            </a:r>
            <a:r>
              <a:rPr sz="1400" dirty="0">
                <a:solidFill>
                  <a:srgbClr val="F8F8F8"/>
                </a:solidFill>
                <a:latin typeface="Helvetica Neue"/>
              </a:rPr>
              <a:t>Sovereign AI: agents on Indian infra must answer to Indian operators</a:t>
            </a:r>
          </a:p>
          <a:p>
            <a:pPr>
              <a:spcBef>
                <a:spcPts val="600"/>
              </a:spcBef>
            </a:pPr>
            <a:r>
              <a:rPr sz="1400" dirty="0">
                <a:solidFill>
                  <a:srgbClr val="00D4AA"/>
                </a:solidFill>
                <a:latin typeface="Helvetica Neue"/>
              </a:rPr>
              <a:t>→  </a:t>
            </a:r>
            <a:r>
              <a:rPr sz="1400" dirty="0">
                <a:solidFill>
                  <a:srgbClr val="F8F8F8"/>
                </a:solidFill>
                <a:latin typeface="Helvetica Neue"/>
              </a:rPr>
              <a:t>Who verifies AI agents are acting within authorized intent?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14995E8B-DB3C-4E23-9186-1613402BFD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51435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F21E7C5-2080-4549-97AA-9A66882577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51435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7957B04-C024-4B5F-B7C3-20FAE3F1D3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7828610" y="781954"/>
            <a:ext cx="2097346" cy="533439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6FBFCE4-B693-49EB-9CE1-4420332195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4605588"/>
            <a:ext cx="4571997" cy="533439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8FFC4225-9683-4D55-8686-FCDDB8BCBF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485051" y="4386794"/>
            <a:ext cx="964406" cy="549007"/>
            <a:chOff x="7029447" y="3514725"/>
            <a:chExt cx="1285875" cy="549007"/>
          </a:xfrm>
        </p:grpSpPr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23CC42CD-CAE0-4CF0-B118-067FD44AE1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C53ED46F-B155-4F61-89A2-9811AA0F3B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083B7973-20C3-4DB8-B3E0-064793F7A9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DF30D744-3746-48BB-92A0-20B891DE86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80519A3F-75D8-6593-D6FC-6DBD233424B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467" b="2"/>
          <a:stretch>
            <a:fillRect/>
          </a:stretch>
        </p:blipFill>
        <p:spPr>
          <a:xfrm>
            <a:off x="-2286" y="4472"/>
            <a:ext cx="9146286" cy="4992830"/>
          </a:xfrm>
          <a:prstGeom prst="rect">
            <a:avLst/>
          </a:prstGeom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9D85FE18-7BE5-446D-9A33-1C7C3B9106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556565"/>
            <a:ext cx="9036544" cy="3069979"/>
            <a:chOff x="1" y="2075420"/>
            <a:chExt cx="12048729" cy="4093306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0051917B-A90B-4216-B86A-326AF85FF7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619777D6-E475-4DB7-968D-5643F54B08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8750EF92-D35C-417F-B5C0-4BA7EA36A6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3BB14A7B-EFDD-4C96-8E2A-7DF6B1618A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5AF08D53-C22B-4EB4-B59D-94B42A14DB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1950868D-F005-4C1A-A79B-D069B99479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9987" y="474134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707088"/>
                </a:solidFill>
                <a:latin typeface="Helvetica Neue"/>
              </a:defRPr>
            </a:pPr>
            <a:r>
              <a:t>THE INSIGHT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7680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8F8F8"/>
                </a:solidFill>
                <a:latin typeface="Helvetica Neue"/>
              </a:defRPr>
            </a:pPr>
            <a:r>
              <a:rPr dirty="0"/>
              <a:t>The question isn't</a:t>
            </a:r>
            <a:br>
              <a:rPr dirty="0"/>
            </a:br>
            <a:r>
              <a:rPr dirty="0"/>
              <a:t>"is this command allowed?"</a:t>
            </a:r>
            <a:br>
              <a:rPr dirty="0"/>
            </a:br>
            <a:br>
              <a:rPr dirty="0"/>
            </a:br>
            <a:r>
              <a:rPr dirty="0"/>
              <a:t>It's "does this command diverge</a:t>
            </a:r>
            <a:br>
              <a:rPr dirty="0"/>
            </a:br>
            <a:r>
              <a:rPr dirty="0"/>
              <a:t>from what the human authorized?"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474720"/>
            <a:ext cx="6949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0B0C0"/>
                </a:solidFill>
                <a:latin typeface="Helvetica Neue"/>
              </a:defRPr>
            </a:pPr>
            <a:r>
              <a:rPr dirty="0"/>
              <a:t>Static rules → identity/permission</a:t>
            </a:r>
            <a:br>
              <a:rPr dirty="0"/>
            </a:br>
            <a:r>
              <a:rPr dirty="0" err="1"/>
              <a:t>IntentGuard</a:t>
            </a:r>
            <a:r>
              <a:rPr dirty="0"/>
              <a:t> → intent/behavior divergence</a:t>
            </a:r>
            <a:br>
              <a:rPr dirty="0"/>
            </a:br>
            <a:br>
              <a:rPr dirty="0"/>
            </a:br>
            <a:r>
              <a:rPr dirty="0"/>
              <a:t>A third axis catching legitimate-looking commands that are off-intent.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5143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B4566DB-68E2-1706-BF9E-560256BAC2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649"/>
          <a:stretch>
            <a:fillRect/>
          </a:stretch>
        </p:blipFill>
        <p:spPr>
          <a:xfrm>
            <a:off x="20" y="961"/>
            <a:ext cx="9143980" cy="5142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18624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8F8F8"/>
                </a:solidFill>
                <a:latin typeface="Helvetica Neue"/>
              </a:defRPr>
            </a:pPr>
            <a:r>
              <a:t>INTRODUCING: IntentGuard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8288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00D4AA"/>
                </a:solidFill>
                <a:latin typeface="Helvetica Neue"/>
              </a:defRPr>
            </a:pPr>
            <a:r>
              <a:rPr dirty="0"/>
              <a:t>AI-powered semantic firewall for the Linux command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8046720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 dirty="0">
                <a:solidFill>
                  <a:srgbClr val="00D4AA"/>
                </a:solidFill>
                <a:latin typeface="Helvetica Neue"/>
              </a:rPr>
              <a:t>→  </a:t>
            </a:r>
            <a:r>
              <a:rPr sz="1300" dirty="0">
                <a:solidFill>
                  <a:srgbClr val="F8F8F8"/>
                </a:solidFill>
                <a:latin typeface="Helvetica Neue"/>
              </a:rPr>
              <a:t>Pre-execution blocking gate — Shell</a:t>
            </a:r>
            <a:r>
              <a:rPr lang="en-US" sz="1300" dirty="0">
                <a:solidFill>
                  <a:srgbClr val="F8F8F8"/>
                </a:solidFill>
                <a:latin typeface="Helvetica Neue"/>
              </a:rPr>
              <a:t> h</a:t>
            </a:r>
            <a:r>
              <a:rPr sz="1300" dirty="0">
                <a:solidFill>
                  <a:srgbClr val="F8F8F8"/>
                </a:solidFill>
                <a:latin typeface="Helvetica Neue"/>
              </a:rPr>
              <a:t>ook on Unix domain socket</a:t>
            </a:r>
          </a:p>
          <a:p>
            <a:pPr>
              <a:spcBef>
                <a:spcPts val="600"/>
              </a:spcBef>
            </a:pPr>
            <a:r>
              <a:rPr sz="1300" dirty="0">
                <a:solidFill>
                  <a:srgbClr val="00D4AA"/>
                </a:solidFill>
                <a:latin typeface="Helvetica Neue"/>
              </a:rPr>
              <a:t>→  </a:t>
            </a:r>
            <a:r>
              <a:rPr sz="1300" dirty="0">
                <a:solidFill>
                  <a:srgbClr val="F8F8F8"/>
                </a:solidFill>
                <a:latin typeface="Helvetica Neue"/>
              </a:rPr>
              <a:t>4-component divergence scoring — Sequence</a:t>
            </a:r>
            <a:r>
              <a:rPr lang="en-US" sz="1300" dirty="0">
                <a:solidFill>
                  <a:srgbClr val="F8F8F8"/>
                </a:solidFill>
                <a:latin typeface="Helvetica Neue"/>
              </a:rPr>
              <a:t> s</a:t>
            </a:r>
            <a:r>
              <a:rPr sz="1300" dirty="0">
                <a:solidFill>
                  <a:srgbClr val="F8F8F8"/>
                </a:solidFill>
                <a:latin typeface="Helvetica Neue"/>
              </a:rPr>
              <a:t>urprise, Context</a:t>
            </a:r>
            <a:r>
              <a:rPr lang="en-US" sz="1300" dirty="0">
                <a:solidFill>
                  <a:srgbClr val="F8F8F8"/>
                </a:solidFill>
                <a:latin typeface="Helvetica Neue"/>
              </a:rPr>
              <a:t> mi</a:t>
            </a:r>
            <a:r>
              <a:rPr sz="1300" dirty="0">
                <a:solidFill>
                  <a:srgbClr val="F8F8F8"/>
                </a:solidFill>
                <a:latin typeface="Helvetica Neue"/>
              </a:rPr>
              <a:t>smatch, Semantic</a:t>
            </a:r>
            <a:r>
              <a:rPr lang="en-US" sz="1300" dirty="0">
                <a:solidFill>
                  <a:srgbClr val="F8F8F8"/>
                </a:solidFill>
                <a:latin typeface="Helvetica Neue"/>
              </a:rPr>
              <a:t> i</a:t>
            </a:r>
            <a:r>
              <a:rPr sz="1300" dirty="0">
                <a:solidFill>
                  <a:srgbClr val="F8F8F8"/>
                </a:solidFill>
                <a:latin typeface="Helvetica Neue"/>
              </a:rPr>
              <a:t>nconsistency, </a:t>
            </a:r>
            <a:r>
              <a:rPr lang="en-US" sz="1300" dirty="0">
                <a:solidFill>
                  <a:srgbClr val="F8F8F8"/>
                </a:solidFill>
                <a:latin typeface="Helvetica Neue"/>
              </a:rPr>
              <a:t>	</a:t>
            </a:r>
            <a:r>
              <a:rPr sz="1300" dirty="0">
                <a:solidFill>
                  <a:srgbClr val="F8F8F8"/>
                </a:solidFill>
                <a:latin typeface="Helvetica Neue"/>
              </a:rPr>
              <a:t>Behavioral</a:t>
            </a:r>
            <a:r>
              <a:rPr lang="en-US" sz="1300" dirty="0">
                <a:solidFill>
                  <a:srgbClr val="F8F8F8"/>
                </a:solidFill>
                <a:latin typeface="Helvetica Neue"/>
              </a:rPr>
              <a:t> d</a:t>
            </a:r>
            <a:r>
              <a:rPr sz="1300" dirty="0">
                <a:solidFill>
                  <a:srgbClr val="F8F8F8"/>
                </a:solidFill>
                <a:latin typeface="Helvetica Neue"/>
              </a:rPr>
              <a:t>eviation</a:t>
            </a:r>
          </a:p>
          <a:p>
            <a:pPr>
              <a:spcBef>
                <a:spcPts val="600"/>
              </a:spcBef>
            </a:pPr>
            <a:r>
              <a:rPr sz="1300" dirty="0">
                <a:solidFill>
                  <a:srgbClr val="00D4AA"/>
                </a:solidFill>
                <a:latin typeface="Helvetica Neue"/>
              </a:rPr>
              <a:t>→  </a:t>
            </a:r>
            <a:r>
              <a:rPr sz="1300" dirty="0">
                <a:solidFill>
                  <a:srgbClr val="F8F8F8"/>
                </a:solidFill>
                <a:latin typeface="Helvetica Neue"/>
              </a:rPr>
              <a:t>All inference local — Gemini, zero data leaves Indian networks</a:t>
            </a:r>
          </a:p>
          <a:p>
            <a:pPr>
              <a:spcBef>
                <a:spcPts val="600"/>
              </a:spcBef>
            </a:pPr>
            <a:r>
              <a:rPr sz="1300" dirty="0">
                <a:solidFill>
                  <a:srgbClr val="00D4AA"/>
                </a:solidFill>
                <a:latin typeface="Helvetica Neue"/>
              </a:rPr>
              <a:t>→  </a:t>
            </a:r>
            <a:r>
              <a:rPr sz="1300" dirty="0">
                <a:solidFill>
                  <a:srgbClr val="F8F8F8"/>
                </a:solidFill>
                <a:latin typeface="Helvetica Neue"/>
              </a:rPr>
              <a:t>Deterministic scoring — same inputs always produce same composite</a:t>
            </a:r>
          </a:p>
          <a:p>
            <a:pPr>
              <a:spcBef>
                <a:spcPts val="600"/>
              </a:spcBef>
            </a:pPr>
            <a:r>
              <a:rPr sz="1300" dirty="0">
                <a:solidFill>
                  <a:srgbClr val="00D4AA"/>
                </a:solidFill>
                <a:latin typeface="Helvetica Neue"/>
              </a:rPr>
              <a:t>→  </a:t>
            </a:r>
            <a:r>
              <a:rPr sz="1300" dirty="0">
                <a:solidFill>
                  <a:srgbClr val="F8F8F8"/>
                </a:solidFill>
                <a:latin typeface="Helvetica Neue"/>
              </a:rPr>
              <a:t>2-second decision budget with graceful LLM degradation</a:t>
            </a:r>
          </a:p>
          <a:p>
            <a:pPr>
              <a:spcBef>
                <a:spcPts val="600"/>
              </a:spcBef>
            </a:pPr>
            <a:r>
              <a:rPr sz="1300" dirty="0">
                <a:solidFill>
                  <a:srgbClr val="00D4AA"/>
                </a:solidFill>
                <a:latin typeface="Helvetica Neue"/>
              </a:rPr>
              <a:t>→  </a:t>
            </a:r>
            <a:r>
              <a:rPr sz="1300" dirty="0">
                <a:solidFill>
                  <a:srgbClr val="F8F8F8"/>
                </a:solidFill>
                <a:latin typeface="Helvetica Neue"/>
              </a:rPr>
              <a:t>11 Indian-language explainability —</a:t>
            </a:r>
            <a:r>
              <a:rPr lang="en-US" sz="1300" dirty="0">
                <a:solidFill>
                  <a:srgbClr val="F8F8F8"/>
                </a:solidFill>
                <a:latin typeface="Helvetica Neue"/>
              </a:rPr>
              <a:t> </a:t>
            </a:r>
            <a:r>
              <a:rPr sz="1300" dirty="0">
                <a:solidFill>
                  <a:srgbClr val="F8F8F8"/>
                </a:solidFill>
                <a:latin typeface="Helvetica Neue"/>
              </a:rPr>
              <a:t>Tamil,</a:t>
            </a:r>
            <a:r>
              <a:rPr lang="en-US" sz="1300" dirty="0">
                <a:solidFill>
                  <a:srgbClr val="F8F8F8"/>
                </a:solidFill>
                <a:latin typeface="Helvetica Neue"/>
              </a:rPr>
              <a:t> Kannada, Hindi,</a:t>
            </a:r>
            <a:r>
              <a:rPr sz="1300" dirty="0">
                <a:solidFill>
                  <a:srgbClr val="F8F8F8"/>
                </a:solidFill>
                <a:latin typeface="Helvetica Neue"/>
              </a:rPr>
              <a:t> Bengali, Telugu...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8F8F8"/>
                </a:solidFill>
                <a:latin typeface="Helvetica Neue"/>
              </a:defRPr>
            </a:pPr>
            <a:r>
              <a:t>HOW IT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8288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AA"/>
                </a:solidFill>
                <a:latin typeface="Helvetica Neue"/>
              </a:defRPr>
            </a:pPr>
            <a:r>
              <a:t>1. INTERCEPT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3840480" cy="9144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76200" rtlCol="0" anchor="ctr"/>
          <a:lstStyle/>
          <a:p>
            <a:pPr algn="ctr">
              <a:spcBef>
                <a:spcPts val="100"/>
              </a:spcBef>
            </a:pPr>
            <a:r>
              <a:rPr sz="900">
                <a:solidFill>
                  <a:srgbClr val="A0E0A0"/>
                </a:solidFill>
                <a:latin typeface="Menlo"/>
              </a:rPr>
              <a:t>{"commandText": "rm -rf /",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A0E0A0"/>
                </a:solidFill>
                <a:latin typeface="Menlo"/>
              </a:rPr>
              <a:t> "userId": "rachit",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A0E0A0"/>
                </a:solidFill>
                <a:latin typeface="Menlo"/>
              </a:rPr>
              <a:t> "actorType": "HUMAN",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A0E0A0"/>
                </a:solidFill>
                <a:latin typeface="Menlo"/>
              </a:rPr>
              <a:t> "inputOrigin": "TYPED"}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68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AA"/>
                </a:solidFill>
                <a:latin typeface="Helvetica Neue"/>
              </a:defRPr>
            </a:pPr>
            <a:r>
              <a:t>2. SCORE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43200"/>
            <a:ext cx="3840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Helvetica Neue"/>
              </a:defRPr>
            </a:pPr>
            <a:r>
              <a:t>Sequence_Surprise (0.25): 0.92</a:t>
            </a:r>
            <a:br/>
            <a:r>
              <a:t>Context_Mismatch (0.20): 0.85</a:t>
            </a:r>
            <a:br/>
            <a:r>
              <a:t>Semantic_Inconsistency (0.30): 0.98</a:t>
            </a:r>
            <a:br/>
            <a:r>
              <a:t>Behavioral_Deviation (0.25): 0.88</a:t>
            </a:r>
            <a:br/>
            <a:r>
              <a:t>━━━━━━━━━━━━━━━━━━━</a:t>
            </a:r>
            <a:br/>
            <a:r>
              <a:t>Composite: 0.92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1051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D4AA"/>
                </a:solidFill>
                <a:latin typeface="Helvetica Neue"/>
              </a:defRPr>
            </a:pPr>
            <a:r>
              <a:t>3. DECIDE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1371600"/>
            <a:ext cx="4023360" cy="82296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76200" rtlCol="0" anchor="ctr"/>
          <a:lstStyle/>
          <a:p>
            <a:pPr algn="ctr">
              <a:spcBef>
                <a:spcPts val="100"/>
              </a:spcBef>
            </a:pPr>
            <a:r>
              <a:rPr sz="900">
                <a:solidFill>
                  <a:srgbClr val="A0E0A0"/>
                </a:solidFill>
                <a:latin typeface="Menlo"/>
              </a:rPr>
              <a:t>{"action": "BLOCK",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A0E0A0"/>
                </a:solidFill>
                <a:latin typeface="Menlo"/>
              </a:rPr>
              <a:t> "score": 0.92,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A0E0A0"/>
                </a:solidFill>
                <a:latin typeface="Menlo"/>
              </a:rPr>
              <a:t> "reasoning": "Diverges from</a:t>
            </a:r>
          </a:p>
          <a:p>
            <a:pPr>
              <a:spcBef>
                <a:spcPts val="100"/>
              </a:spcBef>
            </a:pPr>
            <a:r>
              <a:rPr sz="900">
                <a:solidFill>
                  <a:srgbClr val="A0E0A0"/>
                </a:solidFill>
                <a:latin typeface="Menlo"/>
              </a:rPr>
              <a:t>  declared intent..."}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2468880"/>
            <a:ext cx="40233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07088"/>
                </a:solidFill>
                <a:latin typeface="Helvetica Neue"/>
              </a:defRPr>
            </a:pPr>
            <a:r>
              <a:t>Shell blocks → Engine scores → Verdict</a:t>
            </a:r>
            <a:br/>
            <a:r>
              <a:t>All within 2-second budget</a:t>
            </a:r>
            <a:br/>
            <a:r>
              <a:t>Gemini timeout → exclude → renormalize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8F8F8"/>
                </a:solidFill>
                <a:latin typeface="Helvetica Neue"/>
              </a:defRPr>
            </a:pPr>
            <a:r>
              <a:t>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8288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274320" y="1005840"/>
            <a:ext cx="8595360" cy="384048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7000" tIns="76200" rtlCol="0" anchor="ctr"/>
          <a:lstStyle/>
          <a:p>
            <a:pPr algn="ctr">
              <a:spcBef>
                <a:spcPts val="100"/>
              </a:spcBef>
            </a:pPr>
            <a:r>
              <a:rPr sz="800" dirty="0">
                <a:solidFill>
                  <a:srgbClr val="A0E0A0"/>
                </a:solidFill>
                <a:latin typeface="Menlo"/>
              </a:rPr>
              <a:t>┌──────────────────────────────────────────────────────────┐</a:t>
            </a:r>
          </a:p>
          <a:p>
            <a:pPr>
              <a:spcBef>
                <a:spcPts val="100"/>
              </a:spcBef>
            </a:pPr>
            <a:r>
              <a:rPr sz="800" dirty="0">
                <a:solidFill>
                  <a:srgbClr val="A0E0A0"/>
                </a:solidFill>
                <a:latin typeface="Menlo"/>
              </a:rPr>
              <a:t>│                   ENFORCEMENT ENGINE                       │</a:t>
            </a:r>
          </a:p>
          <a:p>
            <a:pPr>
              <a:spcBef>
                <a:spcPts val="100"/>
              </a:spcBef>
            </a:pPr>
            <a:r>
              <a:rPr sz="800" dirty="0">
                <a:solidFill>
                  <a:srgbClr val="A0E0A0"/>
                </a:solidFill>
                <a:latin typeface="Menlo"/>
              </a:rPr>
              <a:t>│                                                            │</a:t>
            </a:r>
          </a:p>
          <a:p>
            <a:pPr>
              <a:spcBef>
                <a:spcPts val="100"/>
              </a:spcBef>
            </a:pPr>
            <a:r>
              <a:rPr sz="800" dirty="0">
                <a:solidFill>
                  <a:srgbClr val="A0E0A0"/>
                </a:solidFill>
                <a:latin typeface="Menlo"/>
              </a:rPr>
              <a:t>│  ┌────────┐   ┌──────────────────┐   ┌─────────┐  │</a:t>
            </a:r>
          </a:p>
          <a:p>
            <a:pPr>
              <a:spcBef>
                <a:spcPts val="100"/>
              </a:spcBef>
            </a:pPr>
            <a:r>
              <a:rPr sz="800" dirty="0">
                <a:solidFill>
                  <a:srgbClr val="A0E0A0"/>
                </a:solidFill>
                <a:latin typeface="Menlo"/>
              </a:rPr>
              <a:t>│  │</a:t>
            </a:r>
            <a:r>
              <a:rPr sz="800" dirty="0" err="1">
                <a:solidFill>
                  <a:srgbClr val="A0E0A0"/>
                </a:solidFill>
                <a:latin typeface="Menlo"/>
              </a:rPr>
              <a:t>Shell_Hook</a:t>
            </a:r>
            <a:r>
              <a:rPr sz="800" dirty="0">
                <a:solidFill>
                  <a:srgbClr val="A0E0A0"/>
                </a:solidFill>
                <a:latin typeface="Menlo"/>
              </a:rPr>
              <a:t>│─▶│ Scoring Pipeline │─▶│ Decision │  │</a:t>
            </a:r>
          </a:p>
          <a:p>
            <a:pPr>
              <a:spcBef>
                <a:spcPts val="100"/>
              </a:spcBef>
            </a:pPr>
            <a:r>
              <a:rPr sz="800" dirty="0">
                <a:solidFill>
                  <a:srgbClr val="A0E0A0"/>
                </a:solidFill>
                <a:latin typeface="Menlo"/>
              </a:rPr>
              <a:t>│  │  (UDS)   │   │                  │   │  Engine  │  │</a:t>
            </a:r>
          </a:p>
          <a:p>
            <a:pPr>
              <a:spcBef>
                <a:spcPts val="100"/>
              </a:spcBef>
            </a:pPr>
            <a:r>
              <a:rPr sz="800" dirty="0">
                <a:solidFill>
                  <a:srgbClr val="A0E0A0"/>
                </a:solidFill>
                <a:latin typeface="Menlo"/>
              </a:rPr>
              <a:t>│  └────────┘   │ </a:t>
            </a:r>
            <a:r>
              <a:rPr sz="800" dirty="0" err="1">
                <a:solidFill>
                  <a:srgbClr val="A0E0A0"/>
                </a:solidFill>
                <a:latin typeface="Menlo"/>
              </a:rPr>
              <a:t>Sequence_Surprise</a:t>
            </a:r>
            <a:r>
              <a:rPr sz="800" dirty="0">
                <a:solidFill>
                  <a:srgbClr val="A0E0A0"/>
                </a:solidFill>
                <a:latin typeface="Menlo"/>
              </a:rPr>
              <a:t>│   └────┬────┘  │</a:t>
            </a:r>
          </a:p>
          <a:p>
            <a:pPr>
              <a:spcBef>
                <a:spcPts val="100"/>
              </a:spcBef>
            </a:pPr>
            <a:r>
              <a:rPr sz="800" dirty="0">
                <a:solidFill>
                  <a:srgbClr val="A0E0A0"/>
                </a:solidFill>
                <a:latin typeface="Menlo"/>
              </a:rPr>
              <a:t>│       ▲        │ </a:t>
            </a:r>
            <a:r>
              <a:rPr sz="800" dirty="0" err="1">
                <a:solidFill>
                  <a:srgbClr val="A0E0A0"/>
                </a:solidFill>
                <a:latin typeface="Menlo"/>
              </a:rPr>
              <a:t>Context_Mismatch</a:t>
            </a:r>
            <a:r>
              <a:rPr sz="800" dirty="0">
                <a:solidFill>
                  <a:srgbClr val="A0E0A0"/>
                </a:solidFill>
                <a:latin typeface="Menlo"/>
              </a:rPr>
              <a:t> │        │       │</a:t>
            </a:r>
          </a:p>
          <a:p>
            <a:pPr>
              <a:spcBef>
                <a:spcPts val="100"/>
              </a:spcBef>
            </a:pPr>
            <a:r>
              <a:rPr sz="800" dirty="0">
                <a:solidFill>
                  <a:srgbClr val="A0E0A0"/>
                </a:solidFill>
                <a:latin typeface="Menlo"/>
              </a:rPr>
              <a:t>│       │        │ </a:t>
            </a:r>
            <a:r>
              <a:rPr sz="800" dirty="0" err="1">
                <a:solidFill>
                  <a:srgbClr val="A0E0A0"/>
                </a:solidFill>
                <a:latin typeface="Menlo"/>
              </a:rPr>
              <a:t>Semantic_Incon</a:t>
            </a:r>
            <a:r>
              <a:rPr sz="800" dirty="0">
                <a:solidFill>
                  <a:srgbClr val="A0E0A0"/>
                </a:solidFill>
                <a:latin typeface="Menlo"/>
              </a:rPr>
              <a:t>.  │   ┌───▼───┐  │</a:t>
            </a:r>
          </a:p>
          <a:p>
            <a:pPr>
              <a:spcBef>
                <a:spcPts val="100"/>
              </a:spcBef>
            </a:pPr>
            <a:r>
              <a:rPr sz="800" dirty="0">
                <a:solidFill>
                  <a:srgbClr val="A0E0A0"/>
                </a:solidFill>
                <a:latin typeface="Menlo"/>
              </a:rPr>
              <a:t>│  ┌───┴───┐   │ </a:t>
            </a:r>
            <a:r>
              <a:rPr sz="800" dirty="0" err="1">
                <a:solidFill>
                  <a:srgbClr val="A0E0A0"/>
                </a:solidFill>
                <a:latin typeface="Menlo"/>
              </a:rPr>
              <a:t>Behav</a:t>
            </a:r>
            <a:r>
              <a:rPr sz="800" dirty="0">
                <a:solidFill>
                  <a:srgbClr val="A0E0A0"/>
                </a:solidFill>
                <a:latin typeface="Menlo"/>
              </a:rPr>
              <a:t>._Deviation │   │ALLOW/ │  │</a:t>
            </a:r>
          </a:p>
          <a:p>
            <a:pPr>
              <a:spcBef>
                <a:spcPts val="100"/>
              </a:spcBef>
            </a:pPr>
            <a:r>
              <a:rPr sz="800" dirty="0">
                <a:solidFill>
                  <a:srgbClr val="A0E0A0"/>
                </a:solidFill>
                <a:latin typeface="Menlo"/>
              </a:rPr>
              <a:t>│  │ Shell │   └──────────────────┘   │ASK/   │  │</a:t>
            </a:r>
          </a:p>
          <a:p>
            <a:pPr>
              <a:spcBef>
                <a:spcPts val="100"/>
              </a:spcBef>
            </a:pPr>
            <a:r>
              <a:rPr sz="800" dirty="0">
                <a:solidFill>
                  <a:srgbClr val="A0E0A0"/>
                </a:solidFill>
                <a:latin typeface="Menlo"/>
              </a:rPr>
              <a:t>│  │(bash) │          ▲              │BLOCK  │  │</a:t>
            </a:r>
          </a:p>
          <a:p>
            <a:pPr>
              <a:spcBef>
                <a:spcPts val="100"/>
              </a:spcBef>
            </a:pPr>
            <a:r>
              <a:rPr sz="800" dirty="0">
                <a:solidFill>
                  <a:srgbClr val="A0E0A0"/>
                </a:solidFill>
                <a:latin typeface="Menlo"/>
              </a:rPr>
              <a:t>│  └───────┘   ┌────┴──────┐   └────┬──┘  │</a:t>
            </a:r>
          </a:p>
          <a:p>
            <a:pPr>
              <a:spcBef>
                <a:spcPts val="100"/>
              </a:spcBef>
            </a:pPr>
            <a:r>
              <a:rPr sz="800" dirty="0">
                <a:solidFill>
                  <a:srgbClr val="A0E0A0"/>
                </a:solidFill>
                <a:latin typeface="Menlo"/>
              </a:rPr>
              <a:t>│                │ Gemini LLM│       │       │</a:t>
            </a:r>
          </a:p>
          <a:p>
            <a:pPr>
              <a:spcBef>
                <a:spcPts val="100"/>
              </a:spcBef>
            </a:pPr>
            <a:r>
              <a:rPr sz="800" dirty="0">
                <a:solidFill>
                  <a:srgbClr val="A0E0A0"/>
                </a:solidFill>
                <a:latin typeface="Menlo"/>
              </a:rPr>
              <a:t>│                │(free tier)│   ┌───▼────┐ │</a:t>
            </a:r>
          </a:p>
          <a:p>
            <a:pPr>
              <a:spcBef>
                <a:spcPts val="100"/>
              </a:spcBef>
            </a:pPr>
            <a:r>
              <a:rPr sz="800" dirty="0">
                <a:solidFill>
                  <a:srgbClr val="A0E0A0"/>
                </a:solidFill>
                <a:latin typeface="Menlo"/>
              </a:rPr>
              <a:t>│                └──────────┘   │Audit + │ │</a:t>
            </a:r>
          </a:p>
          <a:p>
            <a:pPr>
              <a:spcBef>
                <a:spcPts val="100"/>
              </a:spcBef>
            </a:pPr>
            <a:r>
              <a:rPr sz="800" dirty="0">
                <a:solidFill>
                  <a:srgbClr val="A0E0A0"/>
                </a:solidFill>
                <a:latin typeface="Menlo"/>
              </a:rPr>
              <a:t>│                                │MongoDB │ │</a:t>
            </a:r>
          </a:p>
          <a:p>
            <a:pPr>
              <a:spcBef>
                <a:spcPts val="100"/>
              </a:spcBef>
            </a:pPr>
            <a:r>
              <a:rPr sz="800" dirty="0">
                <a:solidFill>
                  <a:srgbClr val="A0E0A0"/>
                </a:solidFill>
                <a:latin typeface="Menlo"/>
              </a:rPr>
              <a:t>│                                └────────┘ │</a:t>
            </a:r>
          </a:p>
          <a:p>
            <a:pPr>
              <a:spcBef>
                <a:spcPts val="100"/>
              </a:spcBef>
            </a:pPr>
            <a:r>
              <a:rPr sz="800" dirty="0">
                <a:solidFill>
                  <a:srgbClr val="A0E0A0"/>
                </a:solidFill>
                <a:latin typeface="Menlo"/>
              </a:rPr>
              <a:t>│  ┌────────────────────────────────────────────┐  │</a:t>
            </a:r>
          </a:p>
          <a:p>
            <a:pPr>
              <a:spcBef>
                <a:spcPts val="100"/>
              </a:spcBef>
            </a:pPr>
            <a:r>
              <a:rPr sz="800" dirty="0">
                <a:solidFill>
                  <a:srgbClr val="A0E0A0"/>
                </a:solidFill>
                <a:latin typeface="Menlo"/>
              </a:rPr>
              <a:t>│  │ </a:t>
            </a:r>
            <a:r>
              <a:rPr sz="800" dirty="0" err="1">
                <a:solidFill>
                  <a:srgbClr val="A0E0A0"/>
                </a:solidFill>
                <a:latin typeface="Menlo"/>
              </a:rPr>
              <a:t>Audit_Feed</a:t>
            </a:r>
            <a:r>
              <a:rPr sz="800" dirty="0">
                <a:solidFill>
                  <a:srgbClr val="A0E0A0"/>
                </a:solidFill>
                <a:latin typeface="Menlo"/>
              </a:rPr>
              <a:t> (</a:t>
            </a:r>
            <a:r>
              <a:rPr sz="800" dirty="0" err="1">
                <a:solidFill>
                  <a:srgbClr val="A0E0A0"/>
                </a:solidFill>
                <a:latin typeface="Menlo"/>
              </a:rPr>
              <a:t>auditd</a:t>
            </a:r>
            <a:r>
              <a:rPr sz="800" dirty="0">
                <a:solidFill>
                  <a:srgbClr val="A0E0A0"/>
                </a:solidFill>
                <a:latin typeface="Menlo"/>
              </a:rPr>
              <a:t>) — async detection/corroborate │  │</a:t>
            </a:r>
          </a:p>
          <a:p>
            <a:pPr>
              <a:spcBef>
                <a:spcPts val="100"/>
              </a:spcBef>
            </a:pPr>
            <a:r>
              <a:rPr sz="800" dirty="0">
                <a:solidFill>
                  <a:srgbClr val="A0E0A0"/>
                </a:solidFill>
                <a:latin typeface="Menlo"/>
              </a:rPr>
              <a:t>│  └────────────────────────────────────────────┘  │</a:t>
            </a:r>
          </a:p>
          <a:p>
            <a:pPr>
              <a:spcBef>
                <a:spcPts val="100"/>
              </a:spcBef>
            </a:pPr>
            <a:r>
              <a:rPr sz="800" dirty="0">
                <a:solidFill>
                  <a:srgbClr val="A0E0A0"/>
                </a:solidFill>
                <a:latin typeface="Menlo"/>
              </a:rPr>
              <a:t>└──────────────────────────────────────────────────────────┘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D661031-8E93-EECA-4459-368376C463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3428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5143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453D075-E18C-4230-6CAF-DE47F973467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900"/>
          <a:stretch>
            <a:fillRect/>
          </a:stretch>
        </p:blipFill>
        <p:spPr>
          <a:xfrm>
            <a:off x="20" y="961"/>
            <a:ext cx="9143980" cy="514253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5143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386FB2D-9D67-0B72-B621-522F43E6131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900"/>
          <a:stretch>
            <a:fillRect/>
          </a:stretch>
        </p:blipFill>
        <p:spPr>
          <a:xfrm>
            <a:off x="20" y="961"/>
            <a:ext cx="9143980" cy="514253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5143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145A68F-3BAD-2F1F-BB5C-5D29275304B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900"/>
          <a:stretch>
            <a:fillRect/>
          </a:stretch>
        </p:blipFill>
        <p:spPr>
          <a:xfrm>
            <a:off x="20" y="961"/>
            <a:ext cx="9143980" cy="514253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5143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EA2DE91-30BA-9357-2466-D595623D8C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2857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5143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39C4312-66F0-2DAB-5B29-4D60668E8B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649"/>
          <a:stretch>
            <a:fillRect/>
          </a:stretch>
        </p:blipFill>
        <p:spPr>
          <a:xfrm>
            <a:off x="20" y="961"/>
            <a:ext cx="9143980" cy="514253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5143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B773C6D1-953A-81DE-112A-1B8E867F98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649"/>
          <a:stretch>
            <a:fillRect/>
          </a:stretch>
        </p:blipFill>
        <p:spPr>
          <a:xfrm>
            <a:off x="20" y="962"/>
            <a:ext cx="9143980" cy="528447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8F8F8"/>
                </a:solidFill>
                <a:latin typeface="Helvetica Neue"/>
              </a:defRPr>
            </a:pPr>
            <a:r>
              <a:t>IntentGuard vs. ALTERNATIVES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8288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D4AA"/>
                </a:solidFill>
                <a:latin typeface="Helvetica Neue"/>
              </a:defRPr>
            </a:pPr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194560" y="109728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D4AA"/>
                </a:solidFill>
                <a:latin typeface="Helvetica Neue"/>
              </a:defRPr>
            </a:pPr>
            <a:r>
              <a:t>Intent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109728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D4AA"/>
                </a:solidFill>
                <a:latin typeface="Helvetica Neue"/>
              </a:defRPr>
            </a:pPr>
            <a:r>
              <a:t>Pre-Exec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109728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D4AA"/>
                </a:solidFill>
                <a:latin typeface="Helvetica Neue"/>
              </a:defRPr>
            </a:pPr>
            <a:r>
              <a:t>Learning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0972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D4AA"/>
                </a:solidFill>
                <a:latin typeface="Helvetica Neue"/>
              </a:defRPr>
            </a:pPr>
            <a:r>
              <a:t>Explain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09728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D4AA"/>
                </a:solidFill>
                <a:latin typeface="Helvetica Neue"/>
              </a:defRPr>
            </a:pPr>
            <a:r>
              <a:t>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6304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C55E"/>
                </a:solidFill>
                <a:latin typeface="Helvetica Neue"/>
              </a:defRPr>
            </a:pPr>
            <a:r>
              <a:t>IntentGuard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146304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C55E"/>
                </a:solidFill>
                <a:latin typeface="Helvetica Neue"/>
              </a:defRPr>
            </a:pPr>
            <a:r>
              <a:t>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146304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C55E"/>
                </a:solidFill>
                <a:latin typeface="Helvetica Neue"/>
              </a:defRPr>
            </a:pPr>
            <a:r>
              <a:t>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146304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C55E"/>
                </a:solidFill>
                <a:latin typeface="Helvetica Neue"/>
              </a:defRPr>
            </a:pPr>
            <a:r>
              <a:t>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146304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Helvetica Neue"/>
              </a:defRPr>
            </a:pPr>
            <a:r>
              <a:t>✅ 11 langs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46304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C55E"/>
                </a:solidFill>
                <a:latin typeface="Helvetica Neue"/>
              </a:defRPr>
            </a:pPr>
            <a:r>
              <a:t>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182880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8F8F8"/>
                </a:solidFill>
                <a:latin typeface="Helvetica Neue"/>
              </a:defRPr>
            </a:pPr>
            <a:r>
              <a:t>sudoers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182880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4444"/>
                </a:solidFill>
                <a:latin typeface="Helvetica Neue"/>
              </a:defRPr>
            </a:pPr>
            <a:r>
              <a:t>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182880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C55E"/>
                </a:solidFill>
                <a:latin typeface="Helvetica Neue"/>
              </a:defRPr>
            </a:pPr>
            <a:r>
              <a:t>✅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182880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4444"/>
                </a:solidFill>
                <a:latin typeface="Helvetica Neue"/>
              </a:defRPr>
            </a:pPr>
            <a:r>
              <a:t>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182880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4444"/>
                </a:solidFill>
                <a:latin typeface="Helvetica Neue"/>
              </a:defRPr>
            </a:pPr>
            <a:r>
              <a:t>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182880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4444"/>
                </a:solidFill>
                <a:latin typeface="Helvetica Neue"/>
              </a:defRPr>
            </a:pPr>
            <a:r>
              <a:t>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219456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8F8F8"/>
                </a:solidFill>
                <a:latin typeface="Helvetica Neue"/>
              </a:defRPr>
            </a:pPr>
            <a:r>
              <a:t>SELinux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4560" y="219456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4444"/>
                </a:solidFill>
                <a:latin typeface="Helvetica Neue"/>
              </a:defRPr>
            </a:pPr>
            <a:r>
              <a:t>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219456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C55E"/>
                </a:solidFill>
                <a:latin typeface="Helvetica Neue"/>
              </a:defRPr>
            </a:pPr>
            <a:r>
              <a:t>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23360" y="219456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4444"/>
                </a:solidFill>
                <a:latin typeface="Helvetica Neue"/>
              </a:defRPr>
            </a:pPr>
            <a:r>
              <a:t>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219456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4444"/>
                </a:solidFill>
                <a:latin typeface="Helvetica Neue"/>
              </a:defRPr>
            </a:pPr>
            <a:r>
              <a:t>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219456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4444"/>
                </a:solidFill>
                <a:latin typeface="Helvetica Neue"/>
              </a:defRPr>
            </a:pPr>
            <a:r>
              <a:t>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2560320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8F8F8"/>
                </a:solidFill>
                <a:latin typeface="Helvetica Neue"/>
              </a:defRPr>
            </a:pPr>
            <a:r>
              <a:t>PAM (Teleport)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94560" y="256032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4444"/>
                </a:solidFill>
                <a:latin typeface="Helvetica Neue"/>
              </a:defRPr>
            </a:pPr>
            <a:r>
              <a:t>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17520" y="256032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2C55E"/>
                </a:solidFill>
                <a:latin typeface="Helvetica Neue"/>
              </a:defRPr>
            </a:pPr>
            <a:r>
              <a:t>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23360" y="2560320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4444"/>
                </a:solidFill>
                <a:latin typeface="Helvetica Neue"/>
              </a:defRPr>
            </a:pPr>
            <a:r>
              <a:t>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0" y="256032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Helvetica Neue"/>
              </a:defRPr>
            </a:pPr>
            <a:r>
              <a:t>Partial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256032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4444"/>
                </a:solidFill>
                <a:latin typeface="Helvetica Neue"/>
              </a:defRPr>
            </a:pPr>
            <a:r>
              <a:t>❌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2926079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8F8F8"/>
                </a:solidFill>
                <a:latin typeface="Helvetica Neue"/>
              </a:defRPr>
            </a:pPr>
            <a:r>
              <a:t>EDR (CrowdStrike)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94560" y="2926079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4444"/>
                </a:solidFill>
                <a:latin typeface="Helvetica Neue"/>
              </a:defRPr>
            </a:pPr>
            <a:r>
              <a:t>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017520" y="2926079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Helvetica Neue"/>
              </a:defRPr>
            </a:pPr>
            <a:r>
              <a:t>Partial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23360" y="2926079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Helvetica Neue"/>
              </a:defRPr>
            </a:pPr>
            <a:r>
              <a:t>Partial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0" y="2926079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Helvetica Neue"/>
              </a:defRPr>
            </a:pPr>
            <a:r>
              <a:t>Partial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2926079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4444"/>
                </a:solidFill>
                <a:latin typeface="Helvetica Neue"/>
              </a:defRPr>
            </a:pPr>
            <a:r>
              <a:t>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3291839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8F8F8"/>
                </a:solidFill>
                <a:latin typeface="Helvetica Neue"/>
              </a:defRPr>
            </a:pPr>
            <a:r>
              <a:t>auditd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94560" y="3291839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4444"/>
                </a:solidFill>
                <a:latin typeface="Helvetica Neue"/>
              </a:defRPr>
            </a:pPr>
            <a:r>
              <a:t>❌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017520" y="3291839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4444"/>
                </a:solidFill>
                <a:latin typeface="Helvetica Neue"/>
              </a:defRPr>
            </a:pPr>
            <a:r>
              <a:t>❌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023360" y="3291839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4444"/>
                </a:solidFill>
                <a:latin typeface="Helvetica Neue"/>
              </a:defRPr>
            </a:pPr>
            <a:r>
              <a:t>❌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0" y="3291839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4444"/>
                </a:solidFill>
                <a:latin typeface="Helvetica Neue"/>
              </a:defRPr>
            </a:pPr>
            <a:r>
              <a:t>❌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3291839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4444"/>
                </a:solidFill>
                <a:latin typeface="Helvetica Neue"/>
              </a:defRPr>
            </a:pPr>
            <a:r>
              <a:t>❌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8F8F8"/>
                </a:solidFill>
                <a:latin typeface="Helvetica Neue"/>
              </a:defRPr>
            </a:pPr>
            <a:r>
              <a:t>TECH STACK — $0 PROTOTYPE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8288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AA"/>
                </a:solidFill>
                <a:latin typeface="Helvetica Neue"/>
              </a:defRPr>
            </a:pPr>
            <a:r>
              <a:t>$0 prototype — free-tier Gemini + MongoDB Atlas M0 + open-source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8F8F8"/>
                </a:solidFill>
                <a:latin typeface="Helvetica Neue"/>
              </a:defRPr>
            </a:pPr>
            <a:r>
              <a:t>Runtime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7440" y="155448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Helvetica Neue"/>
              </a:defRPr>
            </a:pPr>
            <a:r>
              <a:t>Java 17, Spring Boot 3.3.5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3852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8F8F8"/>
                </a:solidFill>
                <a:latin typeface="Helvetica Neue"/>
              </a:defRPr>
            </a:pPr>
            <a:r>
              <a:t>LLM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1938528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Helvetica Neue"/>
              </a:defRPr>
            </a:pPr>
            <a:r>
              <a:t>Google Gemini 2.5-flash (free tier, 1500 req/day)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22576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8F8F8"/>
                </a:solidFill>
                <a:latin typeface="Helvetica Neue"/>
              </a:defRPr>
            </a:pPr>
            <a:r>
              <a:t>Datastore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2322576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Helvetica Neue"/>
              </a:defRPr>
            </a:pPr>
            <a:r>
              <a:t>MongoDB (Atlas M0 free / local)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706624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8F8F8"/>
                </a:solidFill>
                <a:latin typeface="Helvetica Neue"/>
              </a:defRPr>
            </a:pPr>
            <a:r>
              <a:t>Transport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77440" y="2706624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Helvetica Neue"/>
              </a:defRPr>
            </a:pPr>
            <a:r>
              <a:t>Unix Domain Socket (UDS)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090672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8F8F8"/>
                </a:solidFill>
                <a:latin typeface="Helvetica Neue"/>
              </a:defRPr>
            </a:pPr>
            <a:r>
              <a:t>Testing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77440" y="3090672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Helvetica Neue"/>
              </a:defRPr>
            </a:pPr>
            <a:r>
              <a:t>jqwik (property-based), JUnit 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4747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8F8F8"/>
                </a:solidFill>
                <a:latin typeface="Helvetica Neue"/>
              </a:defRPr>
            </a:pPr>
            <a:r>
              <a:t>Languages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347472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Helvetica Neue"/>
              </a:defRPr>
            </a:pPr>
            <a:r>
              <a:t>11 Indian languages (Gemini + Bhashini)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858768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8F8F8"/>
                </a:solidFill>
                <a:latin typeface="Helvetica Neue"/>
              </a:defRPr>
            </a:pPr>
            <a:r>
              <a:t>Speech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3858768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Helvetica Neue"/>
              </a:defRPr>
            </a:pPr>
            <a:r>
              <a:t>Gemini multimodal API (STT)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4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74320"/>
            <a:ext cx="77724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8F8F8"/>
                </a:solidFill>
                <a:latin typeface="Helvetica Neue"/>
              </a:defRPr>
            </a:pPr>
            <a:r>
              <a:rPr dirty="0"/>
              <a:t>WHY THIS</a:t>
            </a:r>
            <a:r>
              <a:rPr lang="en-US" dirty="0"/>
              <a:t> MATTERS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548640" y="868680"/>
            <a:ext cx="1828800" cy="381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AA"/>
                </a:solidFill>
                <a:latin typeface="Helvetica Neue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972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F8F8"/>
                </a:solidFill>
                <a:latin typeface="Helvetica Neue"/>
              </a:defRPr>
            </a:pPr>
            <a:r>
              <a:t>Sovereign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371600"/>
            <a:ext cx="7498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Helvetica Neue"/>
              </a:defRPr>
            </a:pPr>
            <a:r>
              <a:t>Zero data exfiltration. All inference local. India data sovereignty.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AA"/>
                </a:solidFill>
                <a:latin typeface="Helvetica Neue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920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F8F8"/>
                </a:solidFill>
                <a:latin typeface="Helvetica Neue"/>
              </a:defRPr>
            </a:pPr>
            <a:r>
              <a:t>Research Novelty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194560"/>
            <a:ext cx="7498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Helvetica Neue"/>
              </a:defRPr>
            </a:pPr>
            <a:r>
              <a:t>4-component divergence scoring with renormalization — novel.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4320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AA"/>
                </a:solidFill>
                <a:latin typeface="Helvetica Neue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7432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F8F8"/>
                </a:solidFill>
                <a:latin typeface="Helvetica Neue"/>
              </a:defRPr>
            </a:pPr>
            <a:r>
              <a:t>Production-Ready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017520"/>
            <a:ext cx="7498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Helvetica Neue"/>
              </a:defRPr>
            </a:pPr>
            <a:r>
              <a:t>Working pre-exec blocking. Not a paper prototype.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56616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4AA"/>
                </a:solidFill>
                <a:latin typeface="Helvetica Neue"/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5661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8F8F8"/>
                </a:solidFill>
                <a:latin typeface="Helvetica Neue"/>
              </a:defRPr>
            </a:pPr>
            <a:r>
              <a:t>Indian Languages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840480"/>
            <a:ext cx="7498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Helvetica Neue"/>
              </a:defRPr>
            </a:pPr>
            <a:r>
              <a:t>11 languages + Bhashini govt fallback. No tool does this.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5143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626D35A-5173-E689-E818-661F1A41CC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27" b="1"/>
          <a:stretch>
            <a:fillRect/>
          </a:stretch>
        </p:blipFill>
        <p:spPr>
          <a:xfrm>
            <a:off x="20" y="961"/>
            <a:ext cx="9143980" cy="514253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5143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D7D8DF5-BECD-5884-15D3-E7919BFF83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649"/>
          <a:stretch>
            <a:fillRect/>
          </a:stretch>
        </p:blipFill>
        <p:spPr>
          <a:xfrm>
            <a:off x="20" y="961"/>
            <a:ext cx="9143980" cy="514253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46304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8F8F8"/>
                </a:solidFill>
                <a:latin typeface="Helvetica Neue"/>
              </a:defRPr>
            </a:pPr>
            <a:r>
              <a:rPr lang="en-IN"/>
              <a:t>Every command has intent.</a:t>
            </a:r>
            <a:br>
              <a:rPr lang="en-IN"/>
            </a:br>
            <a:r>
              <a:rPr lang="en-IN"/>
              <a:t>IntentGuard ensures it's yours.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01752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D4AA"/>
                </a:solidFill>
                <a:latin typeface="Helvetica Neue"/>
              </a:defRPr>
            </a:pPr>
            <a:r>
              <a:rPr lang="en-IN"/>
              <a:t>— Because "allowed" ≠ "intended"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93192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707088"/>
                </a:solidFill>
                <a:latin typeface="Helvetica Neue"/>
              </a:defRPr>
            </a:pPr>
            <a:r>
              <a:rPr lang="en-IN"/>
              <a:t>Rachit Gupta  •  CDAC Hackathon 2026  •  Cybersecurity / Trusted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10811</TotalTime>
  <Words>728</Words>
  <Application>Microsoft Macintosh PowerPoint</Application>
  <PresentationFormat>On-screen Show (16:9)</PresentationFormat>
  <Paragraphs>129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Century Gothic</vt:lpstr>
      <vt:lpstr>Helvetica Neue</vt:lpstr>
      <vt:lpstr>Menlo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Rachit Gupta (QCJ R)</cp:lastModifiedBy>
  <cp:revision>7</cp:revision>
  <dcterms:created xsi:type="dcterms:W3CDTF">2013-01-27T09:14:16Z</dcterms:created>
  <dcterms:modified xsi:type="dcterms:W3CDTF">2026-09-01T12:56:01Z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5818d02-8d25-4bb9-b27c-e4db64670887_Enabled">
    <vt:lpwstr>true</vt:lpwstr>
  </property>
  <property fmtid="{D5CDD505-2E9C-101B-9397-08002B2CF9AE}" pid="3" name="MSIP_Label_55818d02-8d25-4bb9-b27c-e4db64670887_SetDate">
    <vt:lpwstr>2026-08-23T18:40:59Z</vt:lpwstr>
  </property>
  <property fmtid="{D5CDD505-2E9C-101B-9397-08002B2CF9AE}" pid="4" name="MSIP_Label_55818d02-8d25-4bb9-b27c-e4db64670887_Method">
    <vt:lpwstr>Standard</vt:lpwstr>
  </property>
  <property fmtid="{D5CDD505-2E9C-101B-9397-08002B2CF9AE}" pid="5" name="MSIP_Label_55818d02-8d25-4bb9-b27c-e4db64670887_Name">
    <vt:lpwstr>55818d02-8d25-4bb9-b27c-e4db64670887</vt:lpwstr>
  </property>
  <property fmtid="{D5CDD505-2E9C-101B-9397-08002B2CF9AE}" pid="6" name="MSIP_Label_55818d02-8d25-4bb9-b27c-e4db64670887_SiteId">
    <vt:lpwstr>a7f35688-9c00-4d5e-ba41-29f146377ab0</vt:lpwstr>
  </property>
  <property fmtid="{D5CDD505-2E9C-101B-9397-08002B2CF9AE}" pid="7" name="MSIP_Label_55818d02-8d25-4bb9-b27c-e4db64670887_ActionId">
    <vt:lpwstr>abc70b59-7af8-4246-b275-c74277195ebe</vt:lpwstr>
  </property>
  <property fmtid="{D5CDD505-2E9C-101B-9397-08002B2CF9AE}" pid="8" name="MSIP_Label_55818d02-8d25-4bb9-b27c-e4db64670887_ContentBits">
    <vt:lpwstr>3</vt:lpwstr>
  </property>
  <property fmtid="{D5CDD505-2E9C-101B-9397-08002B2CF9AE}" pid="9" name="MSIP_Label_55818d02-8d25-4bb9-b27c-e4db64670887_Tag">
    <vt:lpwstr>50, 3, 0, 1</vt:lpwstr>
  </property>
  <property fmtid="{D5CDD505-2E9C-101B-9397-08002B2CF9AE}" pid="10" name="ClassificationContentMarkingFooterLocations">
    <vt:lpwstr>Office Theme:10</vt:lpwstr>
  </property>
  <property fmtid="{D5CDD505-2E9C-101B-9397-08002B2CF9AE}" pid="11" name="ClassificationContentMarkingFooterText">
    <vt:lpwstr>General</vt:lpwstr>
  </property>
  <property fmtid="{D5CDD505-2E9C-101B-9397-08002B2CF9AE}" pid="12" name="ClassificationContentMarkingHeaderLocations">
    <vt:lpwstr>Office Theme:9</vt:lpwstr>
  </property>
  <property fmtid="{D5CDD505-2E9C-101B-9397-08002B2CF9AE}" pid="13" name="ClassificationContentMarkingHeaderText">
    <vt:lpwstr>General</vt:lpwstr>
  </property>
</Properties>
</file>